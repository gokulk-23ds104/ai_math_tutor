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Source Sans 3" charset="1" panose="020B0303030403020204"/>
      <p:regular r:id="rId20"/>
    </p:embeddedFont>
    <p:embeddedFont>
      <p:font typeface="Source Sans 3 Bold" charset="1" panose="020B0303030403020204"/>
      <p:regular r:id="rId21"/>
    </p:embeddedFont>
    <p:embeddedFont>
      <p:font typeface="Montserrat Light" charset="1" panose="000004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44" y="3346247"/>
            <a:ext cx="7932687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Mathematics Tutor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744" y="4637932"/>
            <a:ext cx="927050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intelligent digital learning assistant that transforms handwritten algebra problems into step-by-step solutions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9744" y="5910415"/>
            <a:ext cx="927050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Team: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GOKUL K, ILAMUGILAN S, VIGNESHWARAN R | </a:t>
            </a: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College: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Hindu College (0110)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44" y="1721053"/>
            <a:ext cx="9270502" cy="178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Transforming Algebra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744" y="4254998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Challenge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9744" y="4944666"/>
            <a:ext cx="4258866" cy="331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Students struggle with identifying mathematical symbols, interpreting equations, and applying correct solving sequences. Common mistakes include incorrect sign handling and algebraic transformations.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00915" y="4254998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00915" y="4944666"/>
            <a:ext cx="4258866" cy="285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AI-powered system that interprets algebra problems from images, converts them to LaTeX format, and generates detailed step-by-step explanations with error detection.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968273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9744" y="2490492"/>
            <a:ext cx="8064256" cy="1234078"/>
            <a:chOff x="0" y="0"/>
            <a:chExt cx="10752341" cy="164543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752328" cy="1645412"/>
            </a:xfrm>
            <a:custGeom>
              <a:avLst/>
              <a:gdLst/>
              <a:ahLst/>
              <a:cxnLst/>
              <a:rect r="r" b="b" t="t" l="l"/>
              <a:pathLst>
                <a:path h="1645412" w="10752328">
                  <a:moveTo>
                    <a:pt x="0" y="0"/>
                  </a:moveTo>
                  <a:lnTo>
                    <a:pt x="10752328" y="0"/>
                  </a:lnTo>
                  <a:lnTo>
                    <a:pt x="10752328" y="1645412"/>
                  </a:lnTo>
                  <a:lnTo>
                    <a:pt x="0" y="1645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7" r="0" b="-14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88269" y="4014045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Capture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8269" y="4580182"/>
            <a:ext cx="744720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 uploads photo of handwritten or printed equation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2490492"/>
            <a:ext cx="8064256" cy="1234078"/>
            <a:chOff x="0" y="0"/>
            <a:chExt cx="10752341" cy="164543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752328" cy="1645412"/>
            </a:xfrm>
            <a:custGeom>
              <a:avLst/>
              <a:gdLst/>
              <a:ahLst/>
              <a:cxnLst/>
              <a:rect r="r" b="b" t="t" l="l"/>
              <a:pathLst>
                <a:path h="1645412" w="10752328">
                  <a:moveTo>
                    <a:pt x="0" y="0"/>
                  </a:moveTo>
                  <a:lnTo>
                    <a:pt x="10752328" y="0"/>
                  </a:lnTo>
                  <a:lnTo>
                    <a:pt x="10752328" y="1645412"/>
                  </a:lnTo>
                  <a:lnTo>
                    <a:pt x="0" y="1645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7" r="0" b="-14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52524" y="4014045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OCR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52524" y="4580182"/>
            <a:ext cx="744720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detects and extracts mathematical symbols using vision AI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79744" y="5890317"/>
            <a:ext cx="8064256" cy="1234078"/>
            <a:chOff x="0" y="0"/>
            <a:chExt cx="10752341" cy="164543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752328" cy="1645412"/>
            </a:xfrm>
            <a:custGeom>
              <a:avLst/>
              <a:gdLst/>
              <a:ahLst/>
              <a:cxnLst/>
              <a:rect r="r" b="b" t="t" l="l"/>
              <a:pathLst>
                <a:path h="1645412" w="10752328">
                  <a:moveTo>
                    <a:pt x="0" y="0"/>
                  </a:moveTo>
                  <a:lnTo>
                    <a:pt x="10752328" y="0"/>
                  </a:lnTo>
                  <a:lnTo>
                    <a:pt x="10752328" y="1645412"/>
                  </a:lnTo>
                  <a:lnTo>
                    <a:pt x="0" y="1645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7" r="0" b="-14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88269" y="7413869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LaTeX Conversion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8269" y="7980016"/>
            <a:ext cx="744720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Symbols transformed into structured mathematical expressions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4000" y="5890317"/>
            <a:ext cx="8064256" cy="1234078"/>
            <a:chOff x="0" y="0"/>
            <a:chExt cx="10752341" cy="164543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752328" cy="1645412"/>
            </a:xfrm>
            <a:custGeom>
              <a:avLst/>
              <a:gdLst/>
              <a:ahLst/>
              <a:cxnLst/>
              <a:rect r="r" b="b" t="t" l="l"/>
              <a:pathLst>
                <a:path h="1645412" w="10752328">
                  <a:moveTo>
                    <a:pt x="0" y="0"/>
                  </a:moveTo>
                  <a:lnTo>
                    <a:pt x="10752328" y="0"/>
                  </a:lnTo>
                  <a:lnTo>
                    <a:pt x="10752328" y="1645412"/>
                  </a:lnTo>
                  <a:lnTo>
                    <a:pt x="0" y="1645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7" r="0" b="-149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52524" y="7413869"/>
            <a:ext cx="366802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Generation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52524" y="7980016"/>
            <a:ext cx="7447207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Step-by-step explanations with error detection provided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8859" y="819445"/>
            <a:ext cx="7005638" cy="90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8859" y="2339426"/>
            <a:ext cx="7911103" cy="3395815"/>
            <a:chOff x="0" y="0"/>
            <a:chExt cx="10548137" cy="45277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48239" cy="4527804"/>
            </a:xfrm>
            <a:custGeom>
              <a:avLst/>
              <a:gdLst/>
              <a:ahLst/>
              <a:cxnLst/>
              <a:rect r="r" b="b" t="t" l="l"/>
              <a:pathLst>
                <a:path h="4527804" w="10548239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0486517" y="0"/>
                  </a:lnTo>
                  <a:cubicBezTo>
                    <a:pt x="10520553" y="0"/>
                    <a:pt x="10548239" y="27559"/>
                    <a:pt x="10548239" y="61722"/>
                  </a:cubicBezTo>
                  <a:lnTo>
                    <a:pt x="10548239" y="4466082"/>
                  </a:lnTo>
                  <a:cubicBezTo>
                    <a:pt x="10548239" y="4500118"/>
                    <a:pt x="10520680" y="4527804"/>
                    <a:pt x="10486517" y="4527804"/>
                  </a:cubicBezTo>
                  <a:lnTo>
                    <a:pt x="61722" y="4527804"/>
                  </a:lnTo>
                  <a:cubicBezTo>
                    <a:pt x="27686" y="4527804"/>
                    <a:pt x="0" y="4500245"/>
                    <a:pt x="0" y="4466082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7078" y="2647655"/>
            <a:ext cx="924668" cy="924668"/>
            <a:chOff x="0" y="0"/>
            <a:chExt cx="1232891" cy="12328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2916" cy="1232916"/>
            </a:xfrm>
            <a:custGeom>
              <a:avLst/>
              <a:gdLst/>
              <a:ahLst/>
              <a:cxnLst/>
              <a:rect r="r" b="b" t="t" l="l"/>
              <a:pathLst>
                <a:path h="1232916" w="1232916">
                  <a:moveTo>
                    <a:pt x="0" y="616458"/>
                  </a:moveTo>
                  <a:cubicBezTo>
                    <a:pt x="0" y="275971"/>
                    <a:pt x="275971" y="0"/>
                    <a:pt x="616458" y="0"/>
                  </a:cubicBezTo>
                  <a:cubicBezTo>
                    <a:pt x="956945" y="0"/>
                    <a:pt x="1232916" y="275971"/>
                    <a:pt x="1232916" y="616458"/>
                  </a:cubicBezTo>
                  <a:cubicBezTo>
                    <a:pt x="1232916" y="956945"/>
                    <a:pt x="956945" y="1232916"/>
                    <a:pt x="616458" y="1232916"/>
                  </a:cubicBezTo>
                  <a:cubicBezTo>
                    <a:pt x="275971" y="1232916"/>
                    <a:pt x="0" y="956945"/>
                    <a:pt x="0" y="6164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641272" y="2901848"/>
            <a:ext cx="416128" cy="416128"/>
          </a:xfrm>
          <a:custGeom>
            <a:avLst/>
            <a:gdLst/>
            <a:ahLst/>
            <a:cxnLst/>
            <a:rect r="r" b="b" t="t" l="l"/>
            <a:pathLst>
              <a:path h="416128" w="416128">
                <a:moveTo>
                  <a:pt x="0" y="0"/>
                </a:moveTo>
                <a:lnTo>
                  <a:pt x="416128" y="0"/>
                </a:lnTo>
                <a:lnTo>
                  <a:pt x="416128" y="416129"/>
                </a:lnTo>
                <a:lnTo>
                  <a:pt x="0" y="41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227" t="0" r="-1022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87078" y="3861197"/>
            <a:ext cx="4770682" cy="45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Image-Based Recognition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7078" y="4426591"/>
            <a:ext cx="7294664" cy="100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Processes handwritten and printed algebraic equations from photographs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97886" y="2339426"/>
            <a:ext cx="7911255" cy="3395815"/>
            <a:chOff x="0" y="0"/>
            <a:chExt cx="10548341" cy="45277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48365" cy="4527804"/>
            </a:xfrm>
            <a:custGeom>
              <a:avLst/>
              <a:gdLst/>
              <a:ahLst/>
              <a:cxnLst/>
              <a:rect r="r" b="b" t="t" l="l"/>
              <a:pathLst>
                <a:path h="4527804" w="10548365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0486644" y="0"/>
                  </a:lnTo>
                  <a:cubicBezTo>
                    <a:pt x="10520680" y="0"/>
                    <a:pt x="10548365" y="27559"/>
                    <a:pt x="10548365" y="61722"/>
                  </a:cubicBezTo>
                  <a:lnTo>
                    <a:pt x="10548365" y="4466082"/>
                  </a:lnTo>
                  <a:cubicBezTo>
                    <a:pt x="10548365" y="4500118"/>
                    <a:pt x="10520807" y="4527804"/>
                    <a:pt x="10486644" y="4527804"/>
                  </a:cubicBezTo>
                  <a:lnTo>
                    <a:pt x="61722" y="4527804"/>
                  </a:lnTo>
                  <a:cubicBezTo>
                    <a:pt x="27686" y="4527804"/>
                    <a:pt x="0" y="4500245"/>
                    <a:pt x="0" y="4466082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6115" y="2647655"/>
            <a:ext cx="924668" cy="924668"/>
            <a:chOff x="0" y="0"/>
            <a:chExt cx="1232891" cy="1232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2916" cy="1232916"/>
            </a:xfrm>
            <a:custGeom>
              <a:avLst/>
              <a:gdLst/>
              <a:ahLst/>
              <a:cxnLst/>
              <a:rect r="r" b="b" t="t" l="l"/>
              <a:pathLst>
                <a:path h="1232916" w="1232916">
                  <a:moveTo>
                    <a:pt x="0" y="616458"/>
                  </a:moveTo>
                  <a:cubicBezTo>
                    <a:pt x="0" y="275971"/>
                    <a:pt x="275971" y="0"/>
                    <a:pt x="616458" y="0"/>
                  </a:cubicBezTo>
                  <a:cubicBezTo>
                    <a:pt x="956945" y="0"/>
                    <a:pt x="1232916" y="275971"/>
                    <a:pt x="1232916" y="616458"/>
                  </a:cubicBezTo>
                  <a:cubicBezTo>
                    <a:pt x="1232916" y="956945"/>
                    <a:pt x="956945" y="1232916"/>
                    <a:pt x="616458" y="1232916"/>
                  </a:cubicBezTo>
                  <a:cubicBezTo>
                    <a:pt x="275971" y="1232916"/>
                    <a:pt x="0" y="956945"/>
                    <a:pt x="0" y="6164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860309" y="2901848"/>
            <a:ext cx="416128" cy="416128"/>
          </a:xfrm>
          <a:custGeom>
            <a:avLst/>
            <a:gdLst/>
            <a:ahLst/>
            <a:cxnLst/>
            <a:rect r="r" b="b" t="t" l="l"/>
            <a:pathLst>
              <a:path h="416128" w="416128">
                <a:moveTo>
                  <a:pt x="0" y="0"/>
                </a:moveTo>
                <a:lnTo>
                  <a:pt x="416128" y="0"/>
                </a:lnTo>
                <a:lnTo>
                  <a:pt x="416128" y="416129"/>
                </a:lnTo>
                <a:lnTo>
                  <a:pt x="0" y="416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408" r="0" b="-340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06115" y="3861197"/>
            <a:ext cx="3586753" cy="45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Vision-Language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6115" y="4426591"/>
            <a:ext cx="7294807" cy="100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Converts detected symbols into properly formatted LaTeX representations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8859" y="6043165"/>
            <a:ext cx="7911103" cy="3395815"/>
            <a:chOff x="0" y="0"/>
            <a:chExt cx="10548137" cy="45277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48239" cy="4527804"/>
            </a:xfrm>
            <a:custGeom>
              <a:avLst/>
              <a:gdLst/>
              <a:ahLst/>
              <a:cxnLst/>
              <a:rect r="r" b="b" t="t" l="l"/>
              <a:pathLst>
                <a:path h="4527804" w="10548239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0486517" y="0"/>
                  </a:lnTo>
                  <a:cubicBezTo>
                    <a:pt x="10520553" y="0"/>
                    <a:pt x="10548239" y="27559"/>
                    <a:pt x="10548239" y="61722"/>
                  </a:cubicBezTo>
                  <a:lnTo>
                    <a:pt x="10548239" y="4466082"/>
                  </a:lnTo>
                  <a:cubicBezTo>
                    <a:pt x="10548239" y="4500118"/>
                    <a:pt x="10520680" y="4527804"/>
                    <a:pt x="10486517" y="4527804"/>
                  </a:cubicBezTo>
                  <a:lnTo>
                    <a:pt x="61722" y="4527804"/>
                  </a:lnTo>
                  <a:cubicBezTo>
                    <a:pt x="27686" y="4527804"/>
                    <a:pt x="0" y="4500245"/>
                    <a:pt x="0" y="4466082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87078" y="6351384"/>
            <a:ext cx="924668" cy="924668"/>
            <a:chOff x="0" y="0"/>
            <a:chExt cx="1232891" cy="12328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2916" cy="1232916"/>
            </a:xfrm>
            <a:custGeom>
              <a:avLst/>
              <a:gdLst/>
              <a:ahLst/>
              <a:cxnLst/>
              <a:rect r="r" b="b" t="t" l="l"/>
              <a:pathLst>
                <a:path h="1232916" w="1232916">
                  <a:moveTo>
                    <a:pt x="0" y="616458"/>
                  </a:moveTo>
                  <a:cubicBezTo>
                    <a:pt x="0" y="275971"/>
                    <a:pt x="275971" y="0"/>
                    <a:pt x="616458" y="0"/>
                  </a:cubicBezTo>
                  <a:cubicBezTo>
                    <a:pt x="956945" y="0"/>
                    <a:pt x="1232916" y="275971"/>
                    <a:pt x="1232916" y="616458"/>
                  </a:cubicBezTo>
                  <a:cubicBezTo>
                    <a:pt x="1232916" y="956945"/>
                    <a:pt x="956945" y="1232916"/>
                    <a:pt x="616458" y="1232916"/>
                  </a:cubicBezTo>
                  <a:cubicBezTo>
                    <a:pt x="275971" y="1232916"/>
                    <a:pt x="0" y="956945"/>
                    <a:pt x="0" y="6164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641272" y="6605588"/>
            <a:ext cx="416128" cy="416128"/>
          </a:xfrm>
          <a:custGeom>
            <a:avLst/>
            <a:gdLst/>
            <a:ahLst/>
            <a:cxnLst/>
            <a:rect r="r" b="b" t="t" l="l"/>
            <a:pathLst>
              <a:path h="416128" w="416128">
                <a:moveTo>
                  <a:pt x="0" y="0"/>
                </a:moveTo>
                <a:lnTo>
                  <a:pt x="416128" y="0"/>
                </a:lnTo>
                <a:lnTo>
                  <a:pt x="416128" y="416128"/>
                </a:lnTo>
                <a:lnTo>
                  <a:pt x="0" y="4161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5908" r="0" b="-1590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87078" y="7564936"/>
            <a:ext cx="4186980" cy="45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Step-by-Step Solutions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7078" y="8130330"/>
            <a:ext cx="7294664" cy="100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Generates logical sequences explaining each transformation until final result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7886" y="6043165"/>
            <a:ext cx="7911255" cy="3395815"/>
            <a:chOff x="0" y="0"/>
            <a:chExt cx="10548341" cy="45277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48365" cy="4527804"/>
            </a:xfrm>
            <a:custGeom>
              <a:avLst/>
              <a:gdLst/>
              <a:ahLst/>
              <a:cxnLst/>
              <a:rect r="r" b="b" t="t" l="l"/>
              <a:pathLst>
                <a:path h="4527804" w="10548365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0486644" y="0"/>
                  </a:lnTo>
                  <a:cubicBezTo>
                    <a:pt x="10520680" y="0"/>
                    <a:pt x="10548365" y="27559"/>
                    <a:pt x="10548365" y="61722"/>
                  </a:cubicBezTo>
                  <a:lnTo>
                    <a:pt x="10548365" y="4466082"/>
                  </a:lnTo>
                  <a:cubicBezTo>
                    <a:pt x="10548365" y="4500118"/>
                    <a:pt x="10520807" y="4527804"/>
                    <a:pt x="10486644" y="4527804"/>
                  </a:cubicBezTo>
                  <a:lnTo>
                    <a:pt x="61722" y="4527804"/>
                  </a:lnTo>
                  <a:cubicBezTo>
                    <a:pt x="27686" y="4527804"/>
                    <a:pt x="0" y="4500245"/>
                    <a:pt x="0" y="4466082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06115" y="6351384"/>
            <a:ext cx="924668" cy="924668"/>
            <a:chOff x="0" y="0"/>
            <a:chExt cx="1232891" cy="12328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32916" cy="1232916"/>
            </a:xfrm>
            <a:custGeom>
              <a:avLst/>
              <a:gdLst/>
              <a:ahLst/>
              <a:cxnLst/>
              <a:rect r="r" b="b" t="t" l="l"/>
              <a:pathLst>
                <a:path h="1232916" w="1232916">
                  <a:moveTo>
                    <a:pt x="0" y="616458"/>
                  </a:moveTo>
                  <a:cubicBezTo>
                    <a:pt x="0" y="275971"/>
                    <a:pt x="275971" y="0"/>
                    <a:pt x="616458" y="0"/>
                  </a:cubicBezTo>
                  <a:cubicBezTo>
                    <a:pt x="956945" y="0"/>
                    <a:pt x="1232916" y="275971"/>
                    <a:pt x="1232916" y="616458"/>
                  </a:cubicBezTo>
                  <a:cubicBezTo>
                    <a:pt x="1232916" y="956945"/>
                    <a:pt x="956945" y="1232916"/>
                    <a:pt x="616458" y="1232916"/>
                  </a:cubicBezTo>
                  <a:cubicBezTo>
                    <a:pt x="275971" y="1232916"/>
                    <a:pt x="0" y="956945"/>
                    <a:pt x="0" y="6164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860309" y="6605588"/>
            <a:ext cx="416128" cy="416128"/>
          </a:xfrm>
          <a:custGeom>
            <a:avLst/>
            <a:gdLst/>
            <a:ahLst/>
            <a:cxnLst/>
            <a:rect r="r" b="b" t="t" l="l"/>
            <a:pathLst>
              <a:path h="416128" w="416128">
                <a:moveTo>
                  <a:pt x="0" y="0"/>
                </a:moveTo>
                <a:lnTo>
                  <a:pt x="416128" y="0"/>
                </a:lnTo>
                <a:lnTo>
                  <a:pt x="416128" y="416128"/>
                </a:lnTo>
                <a:lnTo>
                  <a:pt x="0" y="4161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681" t="0" r="-5681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606115" y="7564936"/>
            <a:ext cx="3502819" cy="45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Error Detection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06115" y="8130330"/>
            <a:ext cx="7294807" cy="100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Identifies common mistakes like incorrect sign handling and arithmetic errors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428007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Stack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79744" y="2950216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1481" t="0" r="-3148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36584" y="2931166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 Backend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6584" y="3497313"/>
            <a:ext cx="671453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Core programming language implementing AI processing and mathematical computation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36729" y="2950216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17" t="0" r="-61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93578" y="2931166"/>
            <a:ext cx="3879352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Streamlit Framework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93578" y="3497313"/>
            <a:ext cx="671467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Interactive web interface for image uploads and dynamic result viewing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79744" y="5115963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4814" t="0" r="-14815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36584" y="5096913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Vision AI Models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36584" y="5663060"/>
            <a:ext cx="671453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Gemini/OpenAI Vision interprets symbols and converts to structured equations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36729" y="5115963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407" r="0" b="-7406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93578" y="5096913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OCR Engines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93578" y="5663060"/>
            <a:ext cx="671467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EasyOCR and Tesseract extract textual and symbolic information from images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079744" y="7281710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42592" r="0" b="-4259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236584" y="7262660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SymPy Library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36584" y="7828807"/>
            <a:ext cx="671453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Symbolic mathematics engine for simplifying and solving algebraic expressions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336729" y="7281710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1727" t="0" r="-11727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493578" y="7262660"/>
            <a:ext cx="3637064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OpenCV Processing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3578" y="7828807"/>
            <a:ext cx="671467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Image preprocessing including resizing, noise removal, and contrast enhancement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4833" y="856802"/>
            <a:ext cx="7139883" cy="85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833" y="2196856"/>
            <a:ext cx="292741" cy="43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4833" y="2722959"/>
            <a:ext cx="5227434" cy="38100"/>
            <a:chOff x="0" y="0"/>
            <a:chExt cx="6969912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69887" cy="50800"/>
            </a:xfrm>
            <a:custGeom>
              <a:avLst/>
              <a:gdLst/>
              <a:ahLst/>
              <a:cxnLst/>
              <a:rect r="r" b="b" t="t" l="l"/>
              <a:pathLst>
                <a:path h="50800" w="6969887">
                  <a:moveTo>
                    <a:pt x="0" y="0"/>
                  </a:moveTo>
                  <a:lnTo>
                    <a:pt x="6969887" y="0"/>
                  </a:lnTo>
                  <a:lnTo>
                    <a:pt x="696988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4833" y="2926404"/>
            <a:ext cx="3327349" cy="43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Interface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833" y="3470967"/>
            <a:ext cx="5227434" cy="91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Streamlit frontend for image uploads and LaTeX rendering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0130" y="2196856"/>
            <a:ext cx="292741" cy="43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30130" y="2722959"/>
            <a:ext cx="5227587" cy="38100"/>
            <a:chOff x="0" y="0"/>
            <a:chExt cx="6970116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70141" cy="50800"/>
            </a:xfrm>
            <a:custGeom>
              <a:avLst/>
              <a:gdLst/>
              <a:ahLst/>
              <a:cxnLst/>
              <a:rect r="r" b="b" t="t" l="l"/>
              <a:pathLst>
                <a:path h="50800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30130" y="2926404"/>
            <a:ext cx="3327349" cy="43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30130" y="3470967"/>
            <a:ext cx="5227587" cy="91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OpenCV preprocessing optimizes images for OCR accuracy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35580" y="2196856"/>
            <a:ext cx="292741" cy="43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35580" y="2722959"/>
            <a:ext cx="5227587" cy="38100"/>
            <a:chOff x="0" y="0"/>
            <a:chExt cx="6970116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0141" cy="50800"/>
            </a:xfrm>
            <a:custGeom>
              <a:avLst/>
              <a:gdLst/>
              <a:ahLst/>
              <a:cxnLst/>
              <a:rect r="r" b="b" t="t" l="l"/>
              <a:pathLst>
                <a:path h="50800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35580" y="2926404"/>
            <a:ext cx="3327349" cy="43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Symbol Extraction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5580" y="3470967"/>
            <a:ext cx="5227587" cy="91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OCR tools detect mathematical characters and symbols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833" y="4814592"/>
            <a:ext cx="292741" cy="43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4833" y="5340696"/>
            <a:ext cx="5227434" cy="38100"/>
            <a:chOff x="0" y="0"/>
            <a:chExt cx="6969912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69887" cy="50800"/>
            </a:xfrm>
            <a:custGeom>
              <a:avLst/>
              <a:gdLst/>
              <a:ahLst/>
              <a:cxnLst/>
              <a:rect r="r" b="b" t="t" l="l"/>
              <a:pathLst>
                <a:path h="50800" w="6969887">
                  <a:moveTo>
                    <a:pt x="0" y="0"/>
                  </a:moveTo>
                  <a:lnTo>
                    <a:pt x="6969887" y="0"/>
                  </a:lnTo>
                  <a:lnTo>
                    <a:pt x="696988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24833" y="5544141"/>
            <a:ext cx="4069404" cy="43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Vision AI Interpretation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833" y="6088704"/>
            <a:ext cx="5227434" cy="91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Converts symbols to structured LaTeX expressions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30130" y="4814592"/>
            <a:ext cx="292741" cy="43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530130" y="5340696"/>
            <a:ext cx="5227587" cy="38100"/>
            <a:chOff x="0" y="0"/>
            <a:chExt cx="6970116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70141" cy="50800"/>
            </a:xfrm>
            <a:custGeom>
              <a:avLst/>
              <a:gdLst/>
              <a:ahLst/>
              <a:cxnLst/>
              <a:rect r="r" b="b" t="t" l="l"/>
              <a:pathLst>
                <a:path h="50800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530130" y="5544141"/>
            <a:ext cx="3327349" cy="43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Equation Solving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30130" y="6088704"/>
            <a:ext cx="5227587" cy="91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SymPy library computes solutions and simplifies expressions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35580" y="4814592"/>
            <a:ext cx="292741" cy="43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06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035580" y="5340696"/>
            <a:ext cx="5227587" cy="38100"/>
            <a:chOff x="0" y="0"/>
            <a:chExt cx="6970116" cy="50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70141" cy="50800"/>
            </a:xfrm>
            <a:custGeom>
              <a:avLst/>
              <a:gdLst/>
              <a:ahLst/>
              <a:cxnLst/>
              <a:rect r="r" b="b" t="t" l="l"/>
              <a:pathLst>
                <a:path h="50800" w="6970141">
                  <a:moveTo>
                    <a:pt x="0" y="0"/>
                  </a:moveTo>
                  <a:lnTo>
                    <a:pt x="6970141" y="0"/>
                  </a:lnTo>
                  <a:lnTo>
                    <a:pt x="69701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035580" y="5544141"/>
            <a:ext cx="3327349" cy="43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Mistake Detection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35580" y="6088704"/>
            <a:ext cx="5227587" cy="91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Analyzes solving process for common student errors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4833" y="7432329"/>
            <a:ext cx="292741" cy="43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07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24833" y="7958433"/>
            <a:ext cx="16238334" cy="38100"/>
            <a:chOff x="0" y="0"/>
            <a:chExt cx="21651112" cy="50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651088" cy="50800"/>
            </a:xfrm>
            <a:custGeom>
              <a:avLst/>
              <a:gdLst/>
              <a:ahLst/>
              <a:cxnLst/>
              <a:rect r="r" b="b" t="t" l="l"/>
              <a:pathLst>
                <a:path h="50800" w="21651088">
                  <a:moveTo>
                    <a:pt x="0" y="0"/>
                  </a:moveTo>
                  <a:lnTo>
                    <a:pt x="21651088" y="0"/>
                  </a:lnTo>
                  <a:lnTo>
                    <a:pt x="2165108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24833" y="8161887"/>
            <a:ext cx="3481092" cy="43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Generation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4833" y="8706441"/>
            <a:ext cx="16238334" cy="48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Organizes steps with explanations for each transformation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122607"/>
            <a:ext cx="8771182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Development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9744" y="5890317"/>
            <a:ext cx="16128502" cy="38100"/>
            <a:chOff x="0" y="0"/>
            <a:chExt cx="21504669" cy="5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04656" cy="50800"/>
            </a:xfrm>
            <a:custGeom>
              <a:avLst/>
              <a:gdLst/>
              <a:ahLst/>
              <a:cxnLst/>
              <a:rect r="r" b="b" t="t" l="l"/>
              <a:pathLst>
                <a:path h="50800" w="2150465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479256" y="0"/>
                  </a:lnTo>
                  <a:cubicBezTo>
                    <a:pt x="21493226" y="0"/>
                    <a:pt x="21504656" y="11430"/>
                    <a:pt x="21504656" y="25400"/>
                  </a:cubicBezTo>
                  <a:cubicBezTo>
                    <a:pt x="21504656" y="39370"/>
                    <a:pt x="21493226" y="50800"/>
                    <a:pt x="21479256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170607" y="4964754"/>
            <a:ext cx="38100" cy="925563"/>
            <a:chOff x="0" y="0"/>
            <a:chExt cx="50800" cy="12340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234059"/>
            </a:xfrm>
            <a:custGeom>
              <a:avLst/>
              <a:gdLst/>
              <a:ahLst/>
              <a:cxnLst/>
              <a:rect r="r" b="b" t="t" l="l"/>
              <a:pathLst>
                <a:path h="123405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208659"/>
                  </a:lnTo>
                  <a:cubicBezTo>
                    <a:pt x="50800" y="1222629"/>
                    <a:pt x="39370" y="1234059"/>
                    <a:pt x="25400" y="1234059"/>
                  </a:cubicBezTo>
                  <a:cubicBezTo>
                    <a:pt x="11430" y="1234059"/>
                    <a:pt x="0" y="1222629"/>
                    <a:pt x="0" y="1208659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842595" y="5543255"/>
            <a:ext cx="694134" cy="694134"/>
            <a:chOff x="0" y="0"/>
            <a:chExt cx="925512" cy="9255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576" cy="925576"/>
            </a:xfrm>
            <a:custGeom>
              <a:avLst/>
              <a:gdLst/>
              <a:ahLst/>
              <a:cxnLst/>
              <a:rect r="r" b="b" t="t" l="l"/>
              <a:pathLst>
                <a:path h="925576" w="92557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3854" y="0"/>
                  </a:lnTo>
                  <a:cubicBezTo>
                    <a:pt x="897890" y="0"/>
                    <a:pt x="925576" y="27686"/>
                    <a:pt x="925576" y="61722"/>
                  </a:cubicBezTo>
                  <a:lnTo>
                    <a:pt x="925576" y="863854"/>
                  </a:lnTo>
                  <a:cubicBezTo>
                    <a:pt x="925576" y="897890"/>
                    <a:pt x="897890" y="925576"/>
                    <a:pt x="863854" y="925576"/>
                  </a:cubicBezTo>
                  <a:lnTo>
                    <a:pt x="61722" y="925576"/>
                  </a:lnTo>
                  <a:cubicBezTo>
                    <a:pt x="27686" y="925576"/>
                    <a:pt x="0" y="897890"/>
                    <a:pt x="0" y="86385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979364" y="5694093"/>
            <a:ext cx="420586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6697" y="2625776"/>
            <a:ext cx="4086073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Phase 1: AI Integration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8269" y="3191913"/>
            <a:ext cx="5602929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Configured Gemini AI environment, generated API keys, tested multimodal processing with sample equations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473401" y="5890317"/>
            <a:ext cx="38100" cy="925563"/>
            <a:chOff x="0" y="0"/>
            <a:chExt cx="50800" cy="12340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1234059"/>
            </a:xfrm>
            <a:custGeom>
              <a:avLst/>
              <a:gdLst/>
              <a:ahLst/>
              <a:cxnLst/>
              <a:rect r="r" b="b" t="t" l="l"/>
              <a:pathLst>
                <a:path h="123405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208659"/>
                  </a:lnTo>
                  <a:cubicBezTo>
                    <a:pt x="50800" y="1222629"/>
                    <a:pt x="39370" y="1234059"/>
                    <a:pt x="25400" y="1234059"/>
                  </a:cubicBezTo>
                  <a:cubicBezTo>
                    <a:pt x="11430" y="1234059"/>
                    <a:pt x="0" y="1222629"/>
                    <a:pt x="0" y="1208659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45388" y="5543255"/>
            <a:ext cx="694134" cy="694134"/>
            <a:chOff x="0" y="0"/>
            <a:chExt cx="925512" cy="9255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5576" cy="925576"/>
            </a:xfrm>
            <a:custGeom>
              <a:avLst/>
              <a:gdLst/>
              <a:ahLst/>
              <a:cxnLst/>
              <a:rect r="r" b="b" t="t" l="l"/>
              <a:pathLst>
                <a:path h="925576" w="92557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3854" y="0"/>
                  </a:lnTo>
                  <a:cubicBezTo>
                    <a:pt x="897890" y="0"/>
                    <a:pt x="925576" y="27686"/>
                    <a:pt x="925576" y="61722"/>
                  </a:cubicBezTo>
                  <a:lnTo>
                    <a:pt x="925576" y="863854"/>
                  </a:lnTo>
                  <a:cubicBezTo>
                    <a:pt x="925576" y="897890"/>
                    <a:pt x="897890" y="925576"/>
                    <a:pt x="863854" y="925576"/>
                  </a:cubicBezTo>
                  <a:lnTo>
                    <a:pt x="61722" y="925576"/>
                  </a:lnTo>
                  <a:cubicBezTo>
                    <a:pt x="27686" y="925576"/>
                    <a:pt x="0" y="897890"/>
                    <a:pt x="0" y="86385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282158" y="5694093"/>
            <a:ext cx="420586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34473" y="7105355"/>
            <a:ext cx="3916118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Phase 2: Core System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91062" y="7671492"/>
            <a:ext cx="5602929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Built Streamlit layout, implemented image upload features, developed processing pipeline with OCR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76194" y="4964754"/>
            <a:ext cx="38100" cy="925563"/>
            <a:chOff x="0" y="0"/>
            <a:chExt cx="50800" cy="12340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" cy="1234059"/>
            </a:xfrm>
            <a:custGeom>
              <a:avLst/>
              <a:gdLst/>
              <a:ahLst/>
              <a:cxnLst/>
              <a:rect r="r" b="b" t="t" l="l"/>
              <a:pathLst>
                <a:path h="123405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208659"/>
                  </a:lnTo>
                  <a:cubicBezTo>
                    <a:pt x="50800" y="1222629"/>
                    <a:pt x="39370" y="1234059"/>
                    <a:pt x="25400" y="1234059"/>
                  </a:cubicBezTo>
                  <a:cubicBezTo>
                    <a:pt x="11430" y="1234059"/>
                    <a:pt x="0" y="1222629"/>
                    <a:pt x="0" y="1208659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48182" y="5543255"/>
            <a:ext cx="694134" cy="694134"/>
            <a:chOff x="0" y="0"/>
            <a:chExt cx="925512" cy="9255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5576" cy="925576"/>
            </a:xfrm>
            <a:custGeom>
              <a:avLst/>
              <a:gdLst/>
              <a:ahLst/>
              <a:cxnLst/>
              <a:rect r="r" b="b" t="t" l="l"/>
              <a:pathLst>
                <a:path h="925576" w="92557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3854" y="0"/>
                  </a:lnTo>
                  <a:cubicBezTo>
                    <a:pt x="897890" y="0"/>
                    <a:pt x="925576" y="27686"/>
                    <a:pt x="925576" y="61722"/>
                  </a:cubicBezTo>
                  <a:lnTo>
                    <a:pt x="925576" y="863854"/>
                  </a:lnTo>
                  <a:cubicBezTo>
                    <a:pt x="925576" y="897890"/>
                    <a:pt x="897890" y="925576"/>
                    <a:pt x="863854" y="925576"/>
                  </a:cubicBezTo>
                  <a:lnTo>
                    <a:pt x="61722" y="925576"/>
                  </a:lnTo>
                  <a:cubicBezTo>
                    <a:pt x="27686" y="925576"/>
                    <a:pt x="0" y="897890"/>
                    <a:pt x="0" y="86385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584952" y="5694093"/>
            <a:ext cx="420586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42197" y="2625776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Phase 3: Backend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93856" y="3191913"/>
            <a:ext cx="5602929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Integrated SymPy for equation solving, implemented mistake detection and step explanations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078988" y="5890317"/>
            <a:ext cx="38100" cy="925563"/>
            <a:chOff x="0" y="0"/>
            <a:chExt cx="50800" cy="12340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800" cy="1234059"/>
            </a:xfrm>
            <a:custGeom>
              <a:avLst/>
              <a:gdLst/>
              <a:ahLst/>
              <a:cxnLst/>
              <a:rect r="r" b="b" t="t" l="l"/>
              <a:pathLst>
                <a:path h="1234059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208659"/>
                  </a:lnTo>
                  <a:cubicBezTo>
                    <a:pt x="50800" y="1222629"/>
                    <a:pt x="39370" y="1234059"/>
                    <a:pt x="25400" y="1234059"/>
                  </a:cubicBezTo>
                  <a:cubicBezTo>
                    <a:pt x="11430" y="1234059"/>
                    <a:pt x="0" y="1222629"/>
                    <a:pt x="0" y="1208659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50976" y="5543255"/>
            <a:ext cx="694134" cy="694134"/>
            <a:chOff x="0" y="0"/>
            <a:chExt cx="925512" cy="9255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5576" cy="925576"/>
            </a:xfrm>
            <a:custGeom>
              <a:avLst/>
              <a:gdLst/>
              <a:ahLst/>
              <a:cxnLst/>
              <a:rect r="r" b="b" t="t" l="l"/>
              <a:pathLst>
                <a:path h="925576" w="92557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3854" y="0"/>
                  </a:lnTo>
                  <a:cubicBezTo>
                    <a:pt x="897890" y="0"/>
                    <a:pt x="925576" y="27686"/>
                    <a:pt x="925576" y="61722"/>
                  </a:cubicBezTo>
                  <a:lnTo>
                    <a:pt x="925576" y="863854"/>
                  </a:lnTo>
                  <a:cubicBezTo>
                    <a:pt x="925576" y="897890"/>
                    <a:pt x="897890" y="925576"/>
                    <a:pt x="863854" y="925576"/>
                  </a:cubicBezTo>
                  <a:lnTo>
                    <a:pt x="61722" y="925576"/>
                  </a:lnTo>
                  <a:cubicBezTo>
                    <a:pt x="27686" y="925576"/>
                    <a:pt x="0" y="897890"/>
                    <a:pt x="0" y="86385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887745" y="5694093"/>
            <a:ext cx="420586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44991" y="7105355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Phase 4: Interface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96650" y="7671492"/>
            <a:ext cx="5602929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Designed student-friendly frontend with responsive layout, loading indicators, and clear instructions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7744" y="1619545"/>
            <a:ext cx="8393316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 &amp;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7744" y="3276895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37744" y="3966572"/>
            <a:ext cx="4258866" cy="456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Functional testing with handwritten and printed equations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Edge case testing with blurry images and incomplete equations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Accuracy evaluation of solutions and explanations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LaTeX formatting verification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58915" y="3276895"/>
            <a:ext cx="3854053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Optimization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58915" y="3966572"/>
            <a:ext cx="4258866" cy="410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Optimized AI prompts for better accuracy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Reduced unnecessary API requests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Improved image preprocessing techniques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Stable performance across input types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766592"/>
            <a:ext cx="811768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Requirements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0694" y="3269752"/>
            <a:ext cx="7948022" cy="5240979"/>
            <a:chOff x="0" y="0"/>
            <a:chExt cx="10597363" cy="69879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546461" cy="6937121"/>
            </a:xfrm>
            <a:custGeom>
              <a:avLst/>
              <a:gdLst/>
              <a:ahLst/>
              <a:cxnLst/>
              <a:rect r="r" b="b" t="t" l="l"/>
              <a:pathLst>
                <a:path h="6937121" w="10546461">
                  <a:moveTo>
                    <a:pt x="0" y="61722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10484612" y="0"/>
                  </a:lnTo>
                  <a:cubicBezTo>
                    <a:pt x="10518775" y="0"/>
                    <a:pt x="10546461" y="27686"/>
                    <a:pt x="10546461" y="61722"/>
                  </a:cubicBezTo>
                  <a:lnTo>
                    <a:pt x="10546461" y="6875399"/>
                  </a:lnTo>
                  <a:cubicBezTo>
                    <a:pt x="10546461" y="6909435"/>
                    <a:pt x="10518775" y="6937121"/>
                    <a:pt x="10484612" y="6937121"/>
                  </a:cubicBezTo>
                  <a:lnTo>
                    <a:pt x="61849" y="6937121"/>
                  </a:lnTo>
                  <a:cubicBezTo>
                    <a:pt x="27686" y="6937121"/>
                    <a:pt x="0" y="6909435"/>
                    <a:pt x="0" y="6875399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97261" cy="6987921"/>
            </a:xfrm>
            <a:custGeom>
              <a:avLst/>
              <a:gdLst/>
              <a:ahLst/>
              <a:cxnLst/>
              <a:rect r="r" b="b" t="t" l="l"/>
              <a:pathLst>
                <a:path h="6987921" w="10597261">
                  <a:moveTo>
                    <a:pt x="0" y="87122"/>
                  </a:moveTo>
                  <a:cubicBezTo>
                    <a:pt x="0" y="38989"/>
                    <a:pt x="39116" y="0"/>
                    <a:pt x="87249" y="0"/>
                  </a:cubicBezTo>
                  <a:lnTo>
                    <a:pt x="10510012" y="0"/>
                  </a:lnTo>
                  <a:lnTo>
                    <a:pt x="10510012" y="25400"/>
                  </a:lnTo>
                  <a:lnTo>
                    <a:pt x="10510012" y="0"/>
                  </a:lnTo>
                  <a:cubicBezTo>
                    <a:pt x="10558145" y="0"/>
                    <a:pt x="10597261" y="38989"/>
                    <a:pt x="10597261" y="87122"/>
                  </a:cubicBezTo>
                  <a:lnTo>
                    <a:pt x="10571861" y="87122"/>
                  </a:lnTo>
                  <a:lnTo>
                    <a:pt x="10597261" y="87122"/>
                  </a:lnTo>
                  <a:lnTo>
                    <a:pt x="10597261" y="6900799"/>
                  </a:lnTo>
                  <a:lnTo>
                    <a:pt x="10571861" y="6900799"/>
                  </a:lnTo>
                  <a:lnTo>
                    <a:pt x="10597261" y="6900799"/>
                  </a:lnTo>
                  <a:cubicBezTo>
                    <a:pt x="10597261" y="6948932"/>
                    <a:pt x="10558145" y="6987921"/>
                    <a:pt x="10510012" y="6987921"/>
                  </a:cubicBezTo>
                  <a:lnTo>
                    <a:pt x="10510012" y="6962521"/>
                  </a:lnTo>
                  <a:lnTo>
                    <a:pt x="10510012" y="6987921"/>
                  </a:lnTo>
                  <a:lnTo>
                    <a:pt x="87249" y="6987921"/>
                  </a:lnTo>
                  <a:lnTo>
                    <a:pt x="87249" y="6962521"/>
                  </a:lnTo>
                  <a:lnTo>
                    <a:pt x="87249" y="6987921"/>
                  </a:lnTo>
                  <a:cubicBezTo>
                    <a:pt x="39116" y="6987921"/>
                    <a:pt x="0" y="6948932"/>
                    <a:pt x="0" y="6900799"/>
                  </a:cubicBezTo>
                  <a:lnTo>
                    <a:pt x="0" y="87122"/>
                  </a:lnTo>
                  <a:lnTo>
                    <a:pt x="25400" y="87122"/>
                  </a:lnTo>
                  <a:lnTo>
                    <a:pt x="0" y="87122"/>
                  </a:lnTo>
                  <a:moveTo>
                    <a:pt x="50800" y="87122"/>
                  </a:moveTo>
                  <a:lnTo>
                    <a:pt x="50800" y="6900799"/>
                  </a:lnTo>
                  <a:lnTo>
                    <a:pt x="25400" y="6900799"/>
                  </a:lnTo>
                  <a:lnTo>
                    <a:pt x="50800" y="6900799"/>
                  </a:lnTo>
                  <a:cubicBezTo>
                    <a:pt x="50800" y="6920865"/>
                    <a:pt x="67056" y="6937121"/>
                    <a:pt x="87249" y="6937121"/>
                  </a:cubicBezTo>
                  <a:lnTo>
                    <a:pt x="10510012" y="6937121"/>
                  </a:lnTo>
                  <a:cubicBezTo>
                    <a:pt x="10530205" y="6937121"/>
                    <a:pt x="10546461" y="6920738"/>
                    <a:pt x="10546461" y="6900799"/>
                  </a:cubicBezTo>
                  <a:lnTo>
                    <a:pt x="10546461" y="87122"/>
                  </a:lnTo>
                  <a:cubicBezTo>
                    <a:pt x="10546461" y="67056"/>
                    <a:pt x="10530205" y="50800"/>
                    <a:pt x="10510012" y="50800"/>
                  </a:cubicBezTo>
                  <a:lnTo>
                    <a:pt x="87249" y="50800"/>
                  </a:lnTo>
                  <a:lnTo>
                    <a:pt x="87249" y="25400"/>
                  </a:lnTo>
                  <a:lnTo>
                    <a:pt x="87249" y="50800"/>
                  </a:lnTo>
                  <a:cubicBezTo>
                    <a:pt x="67056" y="50800"/>
                    <a:pt x="50800" y="67183"/>
                    <a:pt x="50800" y="87122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6369" y="3616376"/>
            <a:ext cx="4349953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6369" y="4182513"/>
            <a:ext cx="7216673" cy="396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Python 3.9 or higher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Streamlit Framework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OpenCV Library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EasyOCR or Tesseract OCR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SymPy Library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NumPy and Pillow libraries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Gemini API or OpenAI Vision API access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79141" y="3269752"/>
            <a:ext cx="7948165" cy="5240979"/>
            <a:chOff x="0" y="0"/>
            <a:chExt cx="10597553" cy="69879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0546715" cy="6937121"/>
            </a:xfrm>
            <a:custGeom>
              <a:avLst/>
              <a:gdLst/>
              <a:ahLst/>
              <a:cxnLst/>
              <a:rect r="r" b="b" t="t" l="l"/>
              <a:pathLst>
                <a:path h="6937121" w="10546715">
                  <a:moveTo>
                    <a:pt x="0" y="61722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10484866" y="0"/>
                  </a:lnTo>
                  <a:cubicBezTo>
                    <a:pt x="10519029" y="0"/>
                    <a:pt x="10546715" y="27686"/>
                    <a:pt x="10546715" y="61722"/>
                  </a:cubicBezTo>
                  <a:lnTo>
                    <a:pt x="10546715" y="6875399"/>
                  </a:lnTo>
                  <a:cubicBezTo>
                    <a:pt x="10546715" y="6909435"/>
                    <a:pt x="10519029" y="6937121"/>
                    <a:pt x="10484866" y="6937121"/>
                  </a:cubicBezTo>
                  <a:lnTo>
                    <a:pt x="61849" y="6937121"/>
                  </a:lnTo>
                  <a:cubicBezTo>
                    <a:pt x="27686" y="6937121"/>
                    <a:pt x="0" y="6909435"/>
                    <a:pt x="0" y="6875399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97515" cy="6987921"/>
            </a:xfrm>
            <a:custGeom>
              <a:avLst/>
              <a:gdLst/>
              <a:ahLst/>
              <a:cxnLst/>
              <a:rect r="r" b="b" t="t" l="l"/>
              <a:pathLst>
                <a:path h="6987921" w="10597515">
                  <a:moveTo>
                    <a:pt x="0" y="87122"/>
                  </a:moveTo>
                  <a:cubicBezTo>
                    <a:pt x="0" y="38989"/>
                    <a:pt x="39116" y="0"/>
                    <a:pt x="87249" y="0"/>
                  </a:cubicBezTo>
                  <a:lnTo>
                    <a:pt x="10510266" y="0"/>
                  </a:lnTo>
                  <a:lnTo>
                    <a:pt x="10510266" y="25400"/>
                  </a:lnTo>
                  <a:lnTo>
                    <a:pt x="10510266" y="0"/>
                  </a:lnTo>
                  <a:cubicBezTo>
                    <a:pt x="10558399" y="0"/>
                    <a:pt x="10597515" y="38989"/>
                    <a:pt x="10597515" y="87122"/>
                  </a:cubicBezTo>
                  <a:lnTo>
                    <a:pt x="10572115" y="87122"/>
                  </a:lnTo>
                  <a:lnTo>
                    <a:pt x="10597515" y="87122"/>
                  </a:lnTo>
                  <a:lnTo>
                    <a:pt x="10597515" y="6900799"/>
                  </a:lnTo>
                  <a:lnTo>
                    <a:pt x="10572115" y="6900799"/>
                  </a:lnTo>
                  <a:lnTo>
                    <a:pt x="10597515" y="6900799"/>
                  </a:lnTo>
                  <a:cubicBezTo>
                    <a:pt x="10597515" y="6948932"/>
                    <a:pt x="10558399" y="6987921"/>
                    <a:pt x="10510266" y="6987921"/>
                  </a:cubicBezTo>
                  <a:lnTo>
                    <a:pt x="10510266" y="6962521"/>
                  </a:lnTo>
                  <a:lnTo>
                    <a:pt x="10510266" y="6987921"/>
                  </a:lnTo>
                  <a:lnTo>
                    <a:pt x="87249" y="6987921"/>
                  </a:lnTo>
                  <a:lnTo>
                    <a:pt x="87249" y="6962521"/>
                  </a:lnTo>
                  <a:lnTo>
                    <a:pt x="87249" y="6987921"/>
                  </a:lnTo>
                  <a:cubicBezTo>
                    <a:pt x="39116" y="6987921"/>
                    <a:pt x="0" y="6948932"/>
                    <a:pt x="0" y="6900799"/>
                  </a:cubicBezTo>
                  <a:lnTo>
                    <a:pt x="0" y="87122"/>
                  </a:lnTo>
                  <a:lnTo>
                    <a:pt x="25400" y="87122"/>
                  </a:lnTo>
                  <a:lnTo>
                    <a:pt x="0" y="87122"/>
                  </a:lnTo>
                  <a:moveTo>
                    <a:pt x="50800" y="87122"/>
                  </a:moveTo>
                  <a:lnTo>
                    <a:pt x="50800" y="6900799"/>
                  </a:lnTo>
                  <a:lnTo>
                    <a:pt x="25400" y="6900799"/>
                  </a:lnTo>
                  <a:lnTo>
                    <a:pt x="50800" y="6900799"/>
                  </a:lnTo>
                  <a:cubicBezTo>
                    <a:pt x="50800" y="6920865"/>
                    <a:pt x="67056" y="6937121"/>
                    <a:pt x="87249" y="6937121"/>
                  </a:cubicBezTo>
                  <a:lnTo>
                    <a:pt x="10510266" y="6937121"/>
                  </a:lnTo>
                  <a:cubicBezTo>
                    <a:pt x="10530460" y="6937121"/>
                    <a:pt x="10546715" y="6920738"/>
                    <a:pt x="10546715" y="6900799"/>
                  </a:cubicBezTo>
                  <a:lnTo>
                    <a:pt x="10546715" y="87122"/>
                  </a:lnTo>
                  <a:cubicBezTo>
                    <a:pt x="10546715" y="67056"/>
                    <a:pt x="10530460" y="50800"/>
                    <a:pt x="10510266" y="50800"/>
                  </a:cubicBezTo>
                  <a:lnTo>
                    <a:pt x="87249" y="50800"/>
                  </a:lnTo>
                  <a:lnTo>
                    <a:pt x="87249" y="25400"/>
                  </a:lnTo>
                  <a:lnTo>
                    <a:pt x="87249" y="50800"/>
                  </a:lnTo>
                  <a:cubicBezTo>
                    <a:pt x="67056" y="50800"/>
                    <a:pt x="50800" y="67183"/>
                    <a:pt x="50800" y="87122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44805" y="3616376"/>
            <a:ext cx="4502048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Requirements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44805" y="4182513"/>
            <a:ext cx="7216826" cy="214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Laptop or desktop computer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Mobile phone or camera for capturing equation images</a:t>
            </a:r>
          </a:p>
          <a:p>
            <a:pPr algn="l" marL="358180" indent="-179090" lvl="1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Stable internet connection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44" y="1038520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Vision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9744" y="2406406"/>
            <a:ext cx="4480922" cy="3066755"/>
            <a:chOff x="0" y="0"/>
            <a:chExt cx="5974563" cy="40890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74588" cy="4089019"/>
            </a:xfrm>
            <a:custGeom>
              <a:avLst/>
              <a:gdLst/>
              <a:ahLst/>
              <a:cxnLst/>
              <a:rect r="r" b="b" t="t" l="l"/>
              <a:pathLst>
                <a:path h="4089019" w="597458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5912866" y="0"/>
                  </a:lnTo>
                  <a:cubicBezTo>
                    <a:pt x="5946902" y="0"/>
                    <a:pt x="5974588" y="27686"/>
                    <a:pt x="5974588" y="61722"/>
                  </a:cubicBezTo>
                  <a:lnTo>
                    <a:pt x="5974588" y="4027297"/>
                  </a:lnTo>
                  <a:cubicBezTo>
                    <a:pt x="5974588" y="4061333"/>
                    <a:pt x="5946902" y="4089019"/>
                    <a:pt x="5912866" y="4089019"/>
                  </a:cubicBezTo>
                  <a:lnTo>
                    <a:pt x="61722" y="4089019"/>
                  </a:lnTo>
                  <a:cubicBezTo>
                    <a:pt x="27686" y="4089019"/>
                    <a:pt x="0" y="4061333"/>
                    <a:pt x="0" y="4027297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88269" y="2695870"/>
            <a:ext cx="3582143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Expanded Domains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269" y="3262017"/>
            <a:ext cx="3863873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Support for calculus, geometry, and statistics beyond algebra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69191" y="2406406"/>
            <a:ext cx="4481065" cy="3066755"/>
            <a:chOff x="0" y="0"/>
            <a:chExt cx="5974753" cy="40890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74715" cy="4089019"/>
            </a:xfrm>
            <a:custGeom>
              <a:avLst/>
              <a:gdLst/>
              <a:ahLst/>
              <a:cxnLst/>
              <a:rect r="r" b="b" t="t" l="l"/>
              <a:pathLst>
                <a:path h="4089019" w="5974715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5912993" y="0"/>
                  </a:lnTo>
                  <a:cubicBezTo>
                    <a:pt x="5947029" y="0"/>
                    <a:pt x="5974715" y="27686"/>
                    <a:pt x="5974715" y="61722"/>
                  </a:cubicBezTo>
                  <a:lnTo>
                    <a:pt x="5974715" y="4027297"/>
                  </a:lnTo>
                  <a:cubicBezTo>
                    <a:pt x="5974715" y="4061333"/>
                    <a:pt x="5947029" y="4089019"/>
                    <a:pt x="5912993" y="4089019"/>
                  </a:cubicBezTo>
                  <a:lnTo>
                    <a:pt x="61722" y="4089019"/>
                  </a:lnTo>
                  <a:cubicBezTo>
                    <a:pt x="27686" y="4089019"/>
                    <a:pt x="0" y="4061333"/>
                    <a:pt x="0" y="4027297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177705" y="2695870"/>
            <a:ext cx="3864026" cy="8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Personalized Analytics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77705" y="3700310"/>
            <a:ext cx="3864026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Learning analytics to track progress and identify improvement areas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79744" y="5781675"/>
            <a:ext cx="9270502" cy="1703041"/>
            <a:chOff x="0" y="0"/>
            <a:chExt cx="12360669" cy="22707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60656" cy="2270760"/>
            </a:xfrm>
            <a:custGeom>
              <a:avLst/>
              <a:gdLst/>
              <a:ahLst/>
              <a:cxnLst/>
              <a:rect r="r" b="b" t="t" l="l"/>
              <a:pathLst>
                <a:path h="2270760" w="1236065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2298934" y="0"/>
                  </a:lnTo>
                  <a:cubicBezTo>
                    <a:pt x="12332970" y="0"/>
                    <a:pt x="12360656" y="27686"/>
                    <a:pt x="12360656" y="61722"/>
                  </a:cubicBezTo>
                  <a:lnTo>
                    <a:pt x="12360656" y="2209038"/>
                  </a:lnTo>
                  <a:cubicBezTo>
                    <a:pt x="12360656" y="2243074"/>
                    <a:pt x="12332970" y="2270760"/>
                    <a:pt x="12298934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88269" y="6071149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Enhanced AI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8269" y="6637287"/>
            <a:ext cx="865346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More sophisticated error detection and adaptive tutoring strategies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9744" y="7755579"/>
            <a:ext cx="9270502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AI Mathematics Tutor represents a significant step toward intelligent tutoring systems that support independent learning and modernize digital education through generative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DAHDGdtUqrk</dc:identifier>
  <dcterms:modified xsi:type="dcterms:W3CDTF">2011-08-01T06:04:30Z</dcterms:modified>
  <cp:revision>1</cp:revision>
  <dc:title>AI-Math-Tutor</dc:title>
</cp:coreProperties>
</file>